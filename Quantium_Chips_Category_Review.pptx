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9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Slides/notesSlide10.xml" ContentType="application/vnd.openxmlformats-officedocument.presentationml.notes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9" d="100"/>
          <a:sy n="129" d="100"/>
        </p:scale>
        <p:origin x="110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spPr>
            <a:solidFill>
              <a:srgbClr val="E8622A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Midage S/C</c:v>
                </c:pt>
                <c:pt idx="1">
                  <c:v>New Fam</c:v>
                </c:pt>
                <c:pt idx="2">
                  <c:v>Older Fam</c:v>
                </c:pt>
                <c:pt idx="3">
                  <c:v>Older S/C</c:v>
                </c:pt>
                <c:pt idx="4">
                  <c:v>Retirees</c:v>
                </c:pt>
                <c:pt idx="5">
                  <c:v>Young Fam</c:v>
                </c:pt>
                <c:pt idx="6">
                  <c:v>Young S/C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33346</c:v>
                </c:pt>
                <c:pt idx="1">
                  <c:v>20607</c:v>
                </c:pt>
                <c:pt idx="2">
                  <c:v>156864</c:v>
                </c:pt>
                <c:pt idx="3">
                  <c:v>127834</c:v>
                </c:pt>
                <c:pt idx="4">
                  <c:v>105916</c:v>
                </c:pt>
                <c:pt idx="5">
                  <c:v>129718</c:v>
                </c:pt>
                <c:pt idx="6">
                  <c:v>57122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BD5-4C99-81E2-2BED754D9CA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Mainstream</c:v>
                </c:pt>
              </c:strCache>
            </c:strRef>
          </c:tx>
          <c:spPr>
            <a:solidFill>
              <a:srgbClr val="1E2D5F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Midage S/C</c:v>
                </c:pt>
                <c:pt idx="1">
                  <c:v>New Fam</c:v>
                </c:pt>
                <c:pt idx="2">
                  <c:v>Older Fam</c:v>
                </c:pt>
                <c:pt idx="3">
                  <c:v>Older S/C</c:v>
                </c:pt>
                <c:pt idx="4">
                  <c:v>Retirees</c:v>
                </c:pt>
                <c:pt idx="5">
                  <c:v>Young Fam</c:v>
                </c:pt>
                <c:pt idx="6">
                  <c:v>Young S/C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84734</c:v>
                </c:pt>
                <c:pt idx="1">
                  <c:v>15980</c:v>
                </c:pt>
                <c:pt idx="2">
                  <c:v>96414</c:v>
                </c:pt>
                <c:pt idx="3">
                  <c:v>124649</c:v>
                </c:pt>
                <c:pt idx="4">
                  <c:v>145169</c:v>
                </c:pt>
                <c:pt idx="5">
                  <c:v>86338</c:v>
                </c:pt>
                <c:pt idx="6">
                  <c:v>147582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BD5-4C99-81E2-2BED754D9CA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Premium</c:v>
                </c:pt>
              </c:strCache>
            </c:strRef>
          </c:tx>
          <c:spPr>
            <a:solidFill>
              <a:srgbClr val="9EB5D6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Midage S/C</c:v>
                </c:pt>
                <c:pt idx="1">
                  <c:v>New Fam</c:v>
                </c:pt>
                <c:pt idx="2">
                  <c:v>Older Fam</c:v>
                </c:pt>
                <c:pt idx="3">
                  <c:v>Older S/C</c:v>
                </c:pt>
                <c:pt idx="4">
                  <c:v>Retirees</c:v>
                </c:pt>
                <c:pt idx="5">
                  <c:v>Young Fam</c:v>
                </c:pt>
                <c:pt idx="6">
                  <c:v>Young S/C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54444</c:v>
                </c:pt>
                <c:pt idx="1">
                  <c:v>10761</c:v>
                </c:pt>
                <c:pt idx="2">
                  <c:v>75243</c:v>
                </c:pt>
                <c:pt idx="3">
                  <c:v>123538</c:v>
                </c:pt>
                <c:pt idx="4">
                  <c:v>91297</c:v>
                </c:pt>
                <c:pt idx="5">
                  <c:v>78572</c:v>
                </c:pt>
                <c:pt idx="6">
                  <c:v>39052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BD5-4C99-81E2-2BED754D9C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CDF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5F6F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Unit Price ($)</c:v>
                </c:pt>
              </c:strCache>
            </c:strRef>
          </c:tx>
          <c:spPr>
            <a:solidFill>
              <a:srgbClr val="E8622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0ED-472D-949C-E6E3E570AD31}"/>
              </c:ext>
            </c:extLst>
          </c:dPt>
          <c:dPt>
            <c:idx val="1"/>
            <c:invertIfNegative val="0"/>
            <c:bubble3D val="0"/>
            <c:spPr>
              <a:solidFill>
                <a:srgbClr val="1E2D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0ED-472D-949C-E6E3E570AD31}"/>
              </c:ext>
            </c:extLst>
          </c:dPt>
          <c:dPt>
            <c:idx val="2"/>
            <c:invertIfNegative val="0"/>
            <c:bubble3D val="0"/>
            <c:spPr>
              <a:solidFill>
                <a:srgbClr val="1E2D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0ED-472D-949C-E6E3E570AD31}"/>
              </c:ext>
            </c:extLst>
          </c:dPt>
          <c:dPt>
            <c:idx val="3"/>
            <c:invertIfNegative val="0"/>
            <c:bubble3D val="0"/>
            <c:spPr>
              <a:solidFill>
                <a:srgbClr val="1E2D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0ED-472D-949C-E6E3E570AD31}"/>
              </c:ext>
            </c:extLst>
          </c:dPt>
          <c:dPt>
            <c:idx val="4"/>
            <c:invertIfNegative val="0"/>
            <c:bubble3D val="0"/>
            <c:spPr>
              <a:solidFill>
                <a:srgbClr val="1E2D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D0ED-472D-949C-E6E3E570AD31}"/>
              </c:ext>
            </c:extLst>
          </c:dPt>
          <c:dPt>
            <c:idx val="5"/>
            <c:invertIfNegative val="0"/>
            <c:bubble3D val="0"/>
            <c:spPr>
              <a:solidFill>
                <a:srgbClr val="1E2D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D0ED-472D-949C-E6E3E570AD31}"/>
              </c:ext>
            </c:extLst>
          </c:dPt>
          <c:dPt>
            <c:idx val="6"/>
            <c:invertIfNegative val="0"/>
            <c:bubble3D val="0"/>
            <c:spPr>
              <a:solidFill>
                <a:srgbClr val="1E2D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D0ED-472D-949C-E6E3E570AD31}"/>
              </c:ext>
            </c:extLst>
          </c:dPt>
          <c:dPt>
            <c:idx val="7"/>
            <c:invertIfNegative val="0"/>
            <c:bubble3D val="0"/>
            <c:spPr>
              <a:solidFill>
                <a:srgbClr val="1E2D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D0ED-472D-949C-E6E3E570AD3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1F36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Young S/C Main.</c:v>
                </c:pt>
                <c:pt idx="1">
                  <c:v>Midage S/C Main.</c:v>
                </c:pt>
                <c:pt idx="2">
                  <c:v>Retirees Bud.</c:v>
                </c:pt>
                <c:pt idx="3">
                  <c:v>Retirees Prem.</c:v>
                </c:pt>
                <c:pt idx="4">
                  <c:v>New Fam Bud.</c:v>
                </c:pt>
                <c:pt idx="5">
                  <c:v>Older S/C Prem.</c:v>
                </c:pt>
                <c:pt idx="6">
                  <c:v>Older S/C Bud.</c:v>
                </c:pt>
                <c:pt idx="7">
                  <c:v>Young S/C Prem.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4.07</c:v>
                </c:pt>
                <c:pt idx="1">
                  <c:v>3.99</c:v>
                </c:pt>
                <c:pt idx="2">
                  <c:v>3.92</c:v>
                </c:pt>
                <c:pt idx="3">
                  <c:v>3.92</c:v>
                </c:pt>
                <c:pt idx="4">
                  <c:v>3.92</c:v>
                </c:pt>
                <c:pt idx="5">
                  <c:v>3.89</c:v>
                </c:pt>
                <c:pt idx="6">
                  <c:v>3.88</c:v>
                </c:pt>
                <c:pt idx="7">
                  <c:v>3.67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D0ED-472D-949C-E6E3E570AD3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CDF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5F6FA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 ($)</c:v>
                </c:pt>
              </c:strCache>
            </c:strRef>
          </c:tx>
          <c:spPr>
            <a:solidFill>
              <a:srgbClr val="E8622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675-4947-86A9-DAA316B92A68}"/>
              </c:ext>
            </c:extLst>
          </c:dPt>
          <c:dPt>
            <c:idx val="1"/>
            <c:invertIfNegative val="0"/>
            <c:bubble3D val="0"/>
            <c:spPr>
              <a:solidFill>
                <a:srgbClr val="1E2D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675-4947-86A9-DAA316B92A68}"/>
              </c:ext>
            </c:extLst>
          </c:dPt>
          <c:dPt>
            <c:idx val="2"/>
            <c:invertIfNegative val="0"/>
            <c:bubble3D val="0"/>
            <c:spPr>
              <a:solidFill>
                <a:srgbClr val="1E2D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675-4947-86A9-DAA316B92A68}"/>
              </c:ext>
            </c:extLst>
          </c:dPt>
          <c:dPt>
            <c:idx val="3"/>
            <c:invertIfNegative val="0"/>
            <c:bubble3D val="0"/>
            <c:spPr>
              <a:solidFill>
                <a:srgbClr val="1E2D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675-4947-86A9-DAA316B92A68}"/>
              </c:ext>
            </c:extLst>
          </c:dPt>
          <c:dPt>
            <c:idx val="4"/>
            <c:invertIfNegative val="0"/>
            <c:bubble3D val="0"/>
            <c:spPr>
              <a:solidFill>
                <a:srgbClr val="1E2D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675-4947-86A9-DAA316B92A68}"/>
              </c:ext>
            </c:extLst>
          </c:dPt>
          <c:dPt>
            <c:idx val="5"/>
            <c:invertIfNegative val="0"/>
            <c:bubble3D val="0"/>
            <c:spPr>
              <a:solidFill>
                <a:srgbClr val="1E2D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6675-4947-86A9-DAA316B92A68}"/>
              </c:ext>
            </c:extLst>
          </c:dPt>
          <c:dPt>
            <c:idx val="6"/>
            <c:invertIfNegative val="0"/>
            <c:bubble3D val="0"/>
            <c:spPr>
              <a:solidFill>
                <a:srgbClr val="1E2D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6675-4947-86A9-DAA316B92A68}"/>
              </c:ext>
            </c:extLst>
          </c:dPt>
          <c:dPt>
            <c:idx val="7"/>
            <c:invertIfNegative val="0"/>
            <c:bubble3D val="0"/>
            <c:spPr>
              <a:solidFill>
                <a:srgbClr val="1E2D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6675-4947-86A9-DAA316B92A6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A1F36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Kettle</c:v>
                </c:pt>
                <c:pt idx="1">
                  <c:v>Doritos</c:v>
                </c:pt>
                <c:pt idx="2">
                  <c:v>Pringles</c:v>
                </c:pt>
                <c:pt idx="3">
                  <c:v>Smiths</c:v>
                </c:pt>
                <c:pt idx="4">
                  <c:v>Twisties</c:v>
                </c:pt>
                <c:pt idx="5">
                  <c:v>Tostitos</c:v>
                </c:pt>
                <c:pt idx="6">
                  <c:v>Thins</c:v>
                </c:pt>
                <c:pt idx="7">
                  <c:v>Infuzions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35424</c:v>
                </c:pt>
                <c:pt idx="1">
                  <c:v>17266</c:v>
                </c:pt>
                <c:pt idx="2">
                  <c:v>16006</c:v>
                </c:pt>
                <c:pt idx="3">
                  <c:v>14338</c:v>
                </c:pt>
                <c:pt idx="4">
                  <c:v>7540</c:v>
                </c:pt>
                <c:pt idx="5">
                  <c:v>7238</c:v>
                </c:pt>
                <c:pt idx="6">
                  <c:v>7217</c:v>
                </c:pt>
                <c:pt idx="7">
                  <c:v>6694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6675-4947-86A9-DAA316B92A6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CDF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5F6FA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 ($)</c:v>
                </c:pt>
              </c:strCache>
            </c:strRef>
          </c:tx>
          <c:spPr>
            <a:solidFill>
              <a:srgbClr val="E8622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562-4395-8D51-4A40478F646C}"/>
              </c:ext>
            </c:extLst>
          </c:dPt>
          <c:dPt>
            <c:idx val="1"/>
            <c:invertIfNegative val="0"/>
            <c:bubble3D val="0"/>
            <c:spPr>
              <a:solidFill>
                <a:srgbClr val="1E2D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562-4395-8D51-4A40478F646C}"/>
              </c:ext>
            </c:extLst>
          </c:dPt>
          <c:dPt>
            <c:idx val="2"/>
            <c:invertIfNegative val="0"/>
            <c:bubble3D val="0"/>
            <c:spPr>
              <a:solidFill>
                <a:srgbClr val="1E2D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562-4395-8D51-4A40478F646C}"/>
              </c:ext>
            </c:extLst>
          </c:dPt>
          <c:dPt>
            <c:idx val="3"/>
            <c:invertIfNegative val="0"/>
            <c:bubble3D val="0"/>
            <c:spPr>
              <a:solidFill>
                <a:srgbClr val="1E2D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562-4395-8D51-4A40478F646C}"/>
              </c:ext>
            </c:extLst>
          </c:dPt>
          <c:dPt>
            <c:idx val="4"/>
            <c:invertIfNegative val="0"/>
            <c:bubble3D val="0"/>
            <c:spPr>
              <a:solidFill>
                <a:srgbClr val="1E2D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2562-4395-8D51-4A40478F646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1F36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175g</c:v>
                </c:pt>
                <c:pt idx="1">
                  <c:v>150g</c:v>
                </c:pt>
                <c:pt idx="2">
                  <c:v>134g</c:v>
                </c:pt>
                <c:pt idx="3">
                  <c:v>110g</c:v>
                </c:pt>
                <c:pt idx="4">
                  <c:v>330g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37968</c:v>
                </c:pt>
                <c:pt idx="1">
                  <c:v>22946</c:v>
                </c:pt>
                <c:pt idx="2">
                  <c:v>16006</c:v>
                </c:pt>
                <c:pt idx="3">
                  <c:v>14630</c:v>
                </c:pt>
                <c:pt idx="4">
                  <c:v>12654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2562-4395-8D51-4A40478F646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CDF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5F6FA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t-value</c:v>
                </c:pt>
              </c:strCache>
            </c:strRef>
          </c:tx>
          <c:spPr>
            <a:solidFill>
              <a:srgbClr val="5B6B8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266-41AC-AF81-B42DF4C9CD01}"/>
              </c:ext>
            </c:extLst>
          </c:dPt>
          <c:dPt>
            <c:idx val="1"/>
            <c:invertIfNegative val="0"/>
            <c:bubble3D val="0"/>
            <c:spPr>
              <a:solidFill>
                <a:srgbClr val="2D8A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266-41AC-AF81-B42DF4C9CD01}"/>
              </c:ext>
            </c:extLst>
          </c:dPt>
          <c:dPt>
            <c:idx val="2"/>
            <c:invertIfNegative val="0"/>
            <c:bubble3D val="0"/>
            <c:spPr>
              <a:solidFill>
                <a:srgbClr val="2D8A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266-41AC-AF81-B42DF4C9CD0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1F36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Feb 2019</c:v>
                </c:pt>
                <c:pt idx="1">
                  <c:v>Mar 2019</c:v>
                </c:pt>
                <c:pt idx="2">
                  <c:v>Apr 2019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-0.64</c:v>
                </c:pt>
                <c:pt idx="1">
                  <c:v>2.95</c:v>
                </c:pt>
                <c:pt idx="2">
                  <c:v>5.93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266-41AC-AF81-B42DF4C9CD0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CDF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5F6FA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t-value</c:v>
                </c:pt>
              </c:strCache>
            </c:strRef>
          </c:tx>
          <c:spPr>
            <a:solidFill>
              <a:srgbClr val="5B6B8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EDF-4EAC-B2AE-538F85DD847F}"/>
              </c:ext>
            </c:extLst>
          </c:dPt>
          <c:dPt>
            <c:idx val="1"/>
            <c:invertIfNegative val="0"/>
            <c:bubble3D val="0"/>
            <c:spPr>
              <a:solidFill>
                <a:srgbClr val="2D8A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EDF-4EAC-B2AE-538F85DD847F}"/>
              </c:ext>
            </c:extLst>
          </c:dPt>
          <c:dPt>
            <c:idx val="2"/>
            <c:invertIfNegative val="0"/>
            <c:bubble3D val="0"/>
            <c:spPr>
              <a:solidFill>
                <a:srgbClr val="2D8A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EDF-4EAC-B2AE-538F85DD847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1F36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Feb 2019</c:v>
                </c:pt>
                <c:pt idx="1">
                  <c:v>Mar 2019</c:v>
                </c:pt>
                <c:pt idx="2">
                  <c:v>Apr 2019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-1.46</c:v>
                </c:pt>
                <c:pt idx="1">
                  <c:v>6.16</c:v>
                </c:pt>
                <c:pt idx="2">
                  <c:v>15.14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EDF-4EAC-B2AE-538F85DD847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CDF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5F6FA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t-value</c:v>
                </c:pt>
              </c:strCache>
            </c:strRef>
          </c:tx>
          <c:spPr>
            <a:solidFill>
              <a:srgbClr val="5B6B8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8F2-4CB7-9E22-4594D700C36E}"/>
              </c:ext>
            </c:extLst>
          </c:dPt>
          <c:dPt>
            <c:idx val="1"/>
            <c:invertIfNegative val="0"/>
            <c:bubble3D val="0"/>
            <c:spPr>
              <a:solidFill>
                <a:srgbClr val="2D8A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8F2-4CB7-9E22-4594D700C36E}"/>
              </c:ext>
            </c:extLst>
          </c:dPt>
          <c:dPt>
            <c:idx val="2"/>
            <c:invertIfNegative val="0"/>
            <c:bubble3D val="0"/>
            <c:spPr>
              <a:solidFill>
                <a:srgbClr val="2D8A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8F2-4CB7-9E22-4594D700C36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1F36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Feb 2019</c:v>
                </c:pt>
                <c:pt idx="1">
                  <c:v>Mar 2019</c:v>
                </c:pt>
                <c:pt idx="2">
                  <c:v>Apr 2019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0.39</c:v>
                </c:pt>
                <c:pt idx="1">
                  <c:v>3.38</c:v>
                </c:pt>
                <c:pt idx="2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8F2-4CB7-9E22-4594D700C36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CDF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5F6FA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t-value</c:v>
                </c:pt>
              </c:strCache>
            </c:strRef>
          </c:tx>
          <c:spPr>
            <a:solidFill>
              <a:srgbClr val="5B6B8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078-46A8-8FB9-223ACB6303B2}"/>
              </c:ext>
            </c:extLst>
          </c:dPt>
          <c:dPt>
            <c:idx val="1"/>
            <c:invertIfNegative val="0"/>
            <c:bubble3D val="0"/>
            <c:spPr>
              <a:solidFill>
                <a:srgbClr val="2D8A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078-46A8-8FB9-223ACB6303B2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0078-46A8-8FB9-223ACB6303B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1F36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Feb 2019</c:v>
                </c:pt>
                <c:pt idx="1">
                  <c:v>Mar 2019</c:v>
                </c:pt>
                <c:pt idx="2">
                  <c:v>Apr 2019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1.06</c:v>
                </c:pt>
                <c:pt idx="1">
                  <c:v>5.36</c:v>
                </c:pt>
                <c:pt idx="2">
                  <c:v>1.08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078-46A8-8FB9-223ACB6303B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CDF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5F6FA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t-value</c:v>
                </c:pt>
              </c:strCache>
            </c:strRef>
          </c:tx>
          <c:spPr>
            <a:solidFill>
              <a:srgbClr val="5B6B8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AFA-4570-8AF2-A0310F9A1C35}"/>
              </c:ext>
            </c:extLst>
          </c:dPt>
          <c:dPt>
            <c:idx val="1"/>
            <c:invertIfNegative val="0"/>
            <c:bubble3D val="0"/>
            <c:spPr>
              <a:solidFill>
                <a:srgbClr val="E8622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AFA-4570-8AF2-A0310F9A1C35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2AFA-4570-8AF2-A0310F9A1C3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1F36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Feb 2019</c:v>
                </c:pt>
                <c:pt idx="1">
                  <c:v>Mar 2019</c:v>
                </c:pt>
                <c:pt idx="2">
                  <c:v>Apr 2019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1.38</c:v>
                </c:pt>
                <c:pt idx="1">
                  <c:v>6.68</c:v>
                </c:pt>
                <c:pt idx="2">
                  <c:v>0.83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AFA-4570-8AF2-A0310F9A1C3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CDF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5F6FA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t-value</c:v>
                </c:pt>
              </c:strCache>
            </c:strRef>
          </c:tx>
          <c:spPr>
            <a:solidFill>
              <a:srgbClr val="2D8A5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FFA-4202-9A83-9259DABAEDA8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BFFA-4202-9A83-9259DABAEDA8}"/>
              </c:ext>
            </c:extLst>
          </c:dPt>
          <c:dPt>
            <c:idx val="2"/>
            <c:invertIfNegative val="0"/>
            <c:bubble3D val="0"/>
            <c:spPr>
              <a:solidFill>
                <a:srgbClr val="5B6B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FFA-4202-9A83-9259DABAEDA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1F36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Feb 2019</c:v>
                </c:pt>
                <c:pt idx="1">
                  <c:v>Mar 2019</c:v>
                </c:pt>
                <c:pt idx="2">
                  <c:v>Apr 2019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4.04</c:v>
                </c:pt>
                <c:pt idx="1">
                  <c:v>5.37</c:v>
                </c:pt>
                <c:pt idx="2">
                  <c:v>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FFA-4202-9A83-9259DABAEDA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CDF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5F6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8569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C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0"/>
            <a:ext cx="1828800" cy="514350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731520"/>
            <a:ext cx="1737360" cy="292608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7315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</a:rPr>
              <a:t>RETAIL ANALYTICS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1188720"/>
            <a:ext cx="7132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Chips Category Review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02920" y="2176272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5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Store Layout Trial Performance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02920" y="2743200"/>
            <a:ext cx="5029200" cy="0"/>
          </a:xfrm>
          <a:prstGeom prst="line">
            <a:avLst/>
          </a:prstGeom>
          <a:noFill/>
          <a:ln w="19050">
            <a:solidFill>
              <a:srgbClr val="E862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880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A96B0"/>
                </a:solidFill>
              </a:rPr>
              <a:t>Prepared by: </a:t>
            </a:r>
            <a:r>
              <a:rPr lang="en-US" sz="1100" dirty="0">
                <a:solidFill>
                  <a:srgbClr val="FFFFFF"/>
                </a:solidFill>
              </a:rPr>
              <a:t>Sushant Kumar Yadav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2004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A96B0"/>
                </a:solidFill>
              </a:rPr>
              <a:t>Period: </a:t>
            </a:r>
            <a:r>
              <a:rPr lang="en-US" sz="1100" dirty="0">
                <a:solidFill>
                  <a:srgbClr val="FFFFFF"/>
                </a:solidFill>
              </a:rPr>
              <a:t>July 2018 – June 2019  |  Trial: Feb – Apr 2019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5204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A96B0"/>
                </a:solidFill>
              </a:rPr>
              <a:t>Scope: </a:t>
            </a:r>
            <a:r>
              <a:rPr lang="en-US" sz="1100" dirty="0">
                <a:solidFill>
                  <a:srgbClr val="FFFFFF"/>
                </a:solidFill>
              </a:rPr>
              <a:t>Task 1 – Customer Segmentation   |   Task 2 – Store Layout Trial Analysis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E2D5F"/>
          </a:solidFill>
          <a:ln w="12700">
            <a:solidFill>
              <a:srgbClr val="1E2D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EXECUTIVE SUMMARY  |  PYRAMID PRINCIPLE: ANSWER FIRST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892040"/>
            <a:ext cx="7315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6B0"/>
                </a:solidFill>
              </a:rPr>
              <a:t>Quantium Retail Analytics  |  Chips Category Review  |  Confidential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03920" y="4892040"/>
            <a:ext cx="457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6B0"/>
                </a:solidFill>
              </a:rPr>
              <a:t>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011680" y="502920"/>
            <a:ext cx="5120640" cy="777240"/>
          </a:xfrm>
          <a:prstGeom prst="rect">
            <a:avLst/>
          </a:prstGeom>
          <a:solidFill>
            <a:srgbClr val="1E2D5F"/>
          </a:solidFill>
          <a:ln w="12700">
            <a:solidFill>
              <a:srgbClr val="1E2D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011680" y="502920"/>
            <a:ext cx="5120640" cy="7772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ROLLOUT the new store layout to stores similar to 77 &amp; 88;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INVESTIGATE pricing at Store 86 before broader deployment.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1280160"/>
            <a:ext cx="0" cy="274320"/>
          </a:xfrm>
          <a:prstGeom prst="line">
            <a:avLst/>
          </a:prstGeom>
          <a:noFill/>
          <a:ln w="31750">
            <a:solidFill>
              <a:srgbClr val="E862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627632"/>
            <a:ext cx="28346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627632"/>
            <a:ext cx="2834640" cy="274320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6276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</a:rPr>
              <a:t>FINDING 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11480" y="193852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F36"/>
                </a:solidFill>
              </a:rPr>
              <a:t>Stores 77 &amp; 88 succeeded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11480" y="22860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4966"/>
                </a:solidFill>
              </a:rPr>
              <a:t>Both showed statistically significant uplift in Sales AND Customers (≥2 of 3 trial months). Layout works.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46120" y="1627632"/>
            <a:ext cx="28346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46120" y="1627632"/>
            <a:ext cx="2834640" cy="274320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16276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</a:rPr>
              <a:t>FINDING 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37560" y="193852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F36"/>
                </a:solidFill>
              </a:rPr>
              <a:t>Store 86 is an anomaly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337560" y="22860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4966"/>
                </a:solidFill>
              </a:rPr>
              <a:t>Customer traffic spiked but sales did NOT convert. A local pricing or promotion issue — not a layout failure.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72200" y="1627632"/>
            <a:ext cx="28346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72200" y="1627632"/>
            <a:ext cx="2834640" cy="274320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2200" y="16276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</a:rPr>
              <a:t>FINDING 3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263640" y="193852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F36"/>
                </a:solidFill>
              </a:rPr>
              <a:t>Target: Mainstream Young Singles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263640" y="22860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4966"/>
                </a:solidFill>
              </a:rPr>
              <a:t>Highest avg unit price ($4.07). Kettle brand + 175g pack drive revenue. Prime audience for layout investment.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0040" y="443484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A96B0"/>
                </a:solidFill>
              </a:rPr>
              <a:t>Each finding is supported by data on the following slides →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E2D5F"/>
          </a:solidFill>
          <a:ln w="12700">
            <a:solidFill>
              <a:srgbClr val="1E2D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TASK STRUCTURE  |  HOW WE ARRIVED AT THE ANSWER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892040"/>
            <a:ext cx="7315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6B0"/>
                </a:solidFill>
              </a:rPr>
              <a:t>Quantium Retail Analytics  |  Chips Category Review  |  Confidential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03920" y="4892040"/>
            <a:ext cx="457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6B0"/>
                </a:solidFill>
              </a:rPr>
              <a:t>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Tasks, One Integrated Story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10058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8A"/>
                </a:solidFill>
              </a:rPr>
              <a:t>Task 1 established WHO to target. Task 2 proved the layout WORKS for the right stores.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444752"/>
            <a:ext cx="39319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444752"/>
            <a:ext cx="3931920" cy="384048"/>
          </a:xfrm>
          <a:prstGeom prst="rect">
            <a:avLst/>
          </a:prstGeom>
          <a:solidFill>
            <a:srgbClr val="1E2D5F"/>
          </a:solidFill>
          <a:ln w="12700">
            <a:solidFill>
              <a:srgbClr val="1E2D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44475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TASK 1 — Customer Segmentation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192024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622A"/>
                </a:solidFill>
              </a:rPr>
              <a:t>Data: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481328" y="192024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4966"/>
                </a:solidFill>
              </a:rPr>
              <a:t>QVI_transaction_data.xlsx + QVI_purchase_behaviour.csv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2920" y="2340864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622A"/>
                </a:solidFill>
              </a:rPr>
              <a:t>Segments: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481328" y="2340864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4966"/>
                </a:solidFill>
              </a:rPr>
              <a:t>7 lifestages × 3 affluence tiers = 21 segments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2761488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622A"/>
                </a:solidFill>
              </a:rPr>
              <a:t>Metrics: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481328" y="2761488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4966"/>
                </a:solidFill>
              </a:rPr>
              <a:t>Total Sales, Customer Count, Avg Unit Price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2920" y="318211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622A"/>
                </a:solidFill>
              </a:rPr>
              <a:t>Key finding: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481328" y="3182112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4966"/>
                </a:solidFill>
              </a:rPr>
              <a:t>Mainstream Young Singles/Couples pay highest avg unit price ($4.07)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" y="3602736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622A"/>
                </a:solidFill>
              </a:rPr>
              <a:t>Method: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481328" y="3602736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4966"/>
                </a:solidFill>
              </a:rPr>
              <a:t>Aggregation + Welch t-test (t=37.6, p&lt;2.2e-16)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315968" y="2944368"/>
            <a:ext cx="512064" cy="0"/>
          </a:xfrm>
          <a:prstGeom prst="line">
            <a:avLst/>
          </a:prstGeom>
          <a:noFill/>
          <a:ln w="31750">
            <a:solidFill>
              <a:srgbClr val="E862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26280" y="2743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8622A"/>
                </a:solidFill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4846320" y="1444752"/>
            <a:ext cx="39319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1444752"/>
            <a:ext cx="3931920" cy="384048"/>
          </a:xfrm>
          <a:prstGeom prst="rect">
            <a:avLst/>
          </a:prstGeom>
          <a:solidFill>
            <a:srgbClr val="1E2D5F"/>
          </a:solidFill>
          <a:ln w="12700">
            <a:solidFill>
              <a:srgbClr val="1E2D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144475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TASK 2 — Store Layout Trial Analysis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83480" y="192024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622A"/>
                </a:solidFill>
              </a:rPr>
              <a:t>Data: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916168" y="19202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4966"/>
                </a:solidFill>
              </a:rPr>
              <a:t>QVI_merged_data.csv (Jul 2018 – Jun 2019)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983480" y="234086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622A"/>
                </a:solidFill>
              </a:rPr>
              <a:t>Trial stores: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916168" y="234086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4966"/>
                </a:solidFill>
              </a:rPr>
              <a:t>77, 86, 88  →  matched to controls 233, 155, 237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983480" y="276148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622A"/>
                </a:solidFill>
              </a:rPr>
              <a:t>Matching: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916168" y="276148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4966"/>
                </a:solidFill>
              </a:rPr>
              <a:t>Correlation + Magnitude (50/50 blend, pre-trial period)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983480" y="318211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622A"/>
                </a:solidFill>
              </a:rPr>
              <a:t>Test: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916168" y="318211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4966"/>
                </a:solidFill>
              </a:rPr>
              <a:t>t-value vs ±2 SD confidence interval (95%)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983480" y="360273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622A"/>
                </a:solidFill>
              </a:rPr>
              <a:t>Outcome: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916168" y="36027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4966"/>
                </a:solidFill>
              </a:rPr>
              <a:t>77 &amp; 88: ROLLOUT  |  86: INVESTIGATE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E2D5F"/>
          </a:solidFill>
          <a:ln w="12700">
            <a:solidFill>
              <a:srgbClr val="1E2D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TASK 1 — FINDING 1  |  REVENUE BY SEGMENT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892040"/>
            <a:ext cx="7315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6B0"/>
                </a:solidFill>
              </a:rPr>
              <a:t>Quantium Retail Analytics  |  Chips Category Review  |  Confidential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03920" y="4892040"/>
            <a:ext cx="457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6B0"/>
                </a:solidFill>
              </a:rPr>
              <a:t>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Families (Budget) lead in volume; Mainstream Young Singles lead in value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8A"/>
                </a:solidFill>
              </a:rPr>
              <a:t>Total sales ($) by Lifestage and Affluence tier — full year Jul 2018–Jun 2019</a:t>
            </a:r>
            <a:endParaRPr lang="en-US" sz="105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320040" y="1325880"/>
          <a:ext cx="59436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Shape 7"/>
          <p:cNvSpPr/>
          <p:nvPr/>
        </p:nvSpPr>
        <p:spPr>
          <a:xfrm>
            <a:off x="6400800" y="1325880"/>
            <a:ext cx="2423160" cy="1005840"/>
          </a:xfrm>
          <a:prstGeom prst="rect">
            <a:avLst/>
          </a:prstGeom>
          <a:solidFill>
            <a:srgbClr val="1E2D5F"/>
          </a:solidFill>
          <a:ln w="12700">
            <a:solidFill>
              <a:srgbClr val="1E2D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400800" y="1444752"/>
            <a:ext cx="2423160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$156,864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6400800" y="1879092"/>
            <a:ext cx="24231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Older Fam (Budget)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400800" y="2110435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5A36B"/>
                </a:solidFill>
              </a:rPr>
              <a:t>Highest raw volume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6400800" y="2423160"/>
            <a:ext cx="2423160" cy="1005840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400800" y="2542032"/>
            <a:ext cx="2423160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$147,582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6400800" y="2976372"/>
            <a:ext cx="24231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Young S/C (Mainstream)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400800" y="3207715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5A36B"/>
                </a:solidFill>
              </a:rPr>
              <a:t>Strategic priority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6400800" y="3520440"/>
            <a:ext cx="2423160" cy="1005840"/>
          </a:xfrm>
          <a:prstGeom prst="rect">
            <a:avLst/>
          </a:prstGeom>
          <a:solidFill>
            <a:srgbClr val="5B6B8A"/>
          </a:solidFill>
          <a:ln w="12700">
            <a:solidFill>
              <a:srgbClr val="5B6B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400800" y="3639312"/>
            <a:ext cx="2423160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$145,169</a:t>
            </a:r>
            <a:endParaRPr lang="en-US" sz="2800" dirty="0"/>
          </a:p>
        </p:txBody>
      </p:sp>
      <p:sp>
        <p:nvSpPr>
          <p:cNvPr id="20" name="Text 17"/>
          <p:cNvSpPr/>
          <p:nvPr/>
        </p:nvSpPr>
        <p:spPr>
          <a:xfrm>
            <a:off x="6400800" y="4073652"/>
            <a:ext cx="24231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Retirees (Mainstream)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400800" y="4304995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5A36B"/>
                </a:solidFill>
              </a:rPr>
              <a:t>3rd largest segment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E2D5F"/>
          </a:solidFill>
          <a:ln w="12700">
            <a:solidFill>
              <a:srgbClr val="1E2D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TASK 1 — FINDING 2  |  PRICE PREMIUM BY SEGMENT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892040"/>
            <a:ext cx="7315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6B0"/>
                </a:solidFill>
              </a:rPr>
              <a:t>Quantium Retail Analytics  |  Chips Category Review  |  Confidential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03920" y="4892040"/>
            <a:ext cx="457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6B0"/>
                </a:solidFill>
              </a:rPr>
              <a:t>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Mainstream Young Singles/Couples pay the highest price per unit — $4.07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8A"/>
                </a:solidFill>
              </a:rPr>
              <a:t>Statistical proof: Welch t-test, t = 37.6, p &lt; 2.2e-16 — mainstream vs non-mainstream in singles/couples lifestages</a:t>
            </a:r>
            <a:endParaRPr lang="en-US" sz="10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320040" y="1325880"/>
          <a:ext cx="530352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Shape 7"/>
          <p:cNvSpPr/>
          <p:nvPr/>
        </p:nvSpPr>
        <p:spPr>
          <a:xfrm>
            <a:off x="5852160" y="1325880"/>
            <a:ext cx="2971800" cy="3474720"/>
          </a:xfrm>
          <a:prstGeom prst="rect">
            <a:avLst/>
          </a:prstGeom>
          <a:solidFill>
            <a:srgbClr val="1E2D5F"/>
          </a:solidFill>
          <a:ln w="12700">
            <a:solidFill>
              <a:srgbClr val="1E2D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989320" y="14630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8622A"/>
                </a:solidFill>
              </a:rPr>
              <a:t>WHY THIS MATTERS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989320" y="1901952"/>
            <a:ext cx="201168" cy="201168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63640" y="1865376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Mainstream Young S/C avg $4.07 vs non-mainstream $3.71 — a 9.7% premium per unit.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989320" y="2414016"/>
            <a:ext cx="201168" cy="201168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63640" y="2377440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With 7,917 unique customers (largest segment), small price gains compound to large revenue upside.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989320" y="2926080"/>
            <a:ext cx="201168" cy="201168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63640" y="2889504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Kettle chips at $35,424 in sales dominate this segment — 2× the next brand.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989320" y="3438144"/>
            <a:ext cx="201168" cy="201168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63640" y="3401568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175g pack alone: $37,968 in sales. Premium portion size aligns with willingness to pay.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989320" y="3950208"/>
            <a:ext cx="201168" cy="201168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63640" y="3913632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Merchandising implication: stock Kettle 175g at eye level in the new layout to capture maximum return.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E2D5F"/>
          </a:solidFill>
          <a:ln w="12700">
            <a:solidFill>
              <a:srgbClr val="1E2D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TASK 1 — FINDING 3  |  MAINSTREAM YOUNG SINGLES/COUPLES DEEP DIVE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892040"/>
            <a:ext cx="7315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6B0"/>
                </a:solidFill>
              </a:rPr>
              <a:t>Quantium Retail Analytics  |  Chips Category Review  |  Confidential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03920" y="4892040"/>
            <a:ext cx="457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6B0"/>
                </a:solidFill>
              </a:rPr>
              <a:t>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Kettle (175g) is the undisputed hero SKU for this high-value segment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20040" y="1078992"/>
            <a:ext cx="1920240" cy="960120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" y="1197864"/>
            <a:ext cx="192024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$4.07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20040" y="1607058"/>
            <a:ext cx="19202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Avg Unit Price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" y="1827886"/>
            <a:ext cx="19202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5A36B"/>
                </a:solidFill>
              </a:rPr>
              <a:t>Highest in category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377440" y="1078992"/>
            <a:ext cx="1920240" cy="960120"/>
          </a:xfrm>
          <a:prstGeom prst="rect">
            <a:avLst/>
          </a:prstGeom>
          <a:solidFill>
            <a:srgbClr val="1E2D5F"/>
          </a:solidFill>
          <a:ln w="12700">
            <a:solidFill>
              <a:srgbClr val="1E2D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377440" y="1197864"/>
            <a:ext cx="192024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7,917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377440" y="1607058"/>
            <a:ext cx="19202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Unique Customers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377440" y="1827886"/>
            <a:ext cx="19202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5A36B"/>
                </a:solidFill>
              </a:rPr>
              <a:t>Largest segment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434840" y="1078992"/>
            <a:ext cx="1920240" cy="960120"/>
          </a:xfrm>
          <a:prstGeom prst="rect">
            <a:avLst/>
          </a:prstGeom>
          <a:solidFill>
            <a:srgbClr val="2D8A5F"/>
          </a:solidFill>
          <a:ln w="12700">
            <a:solidFill>
              <a:srgbClr val="2D8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434840" y="1197864"/>
            <a:ext cx="192024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$35,424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434840" y="1607058"/>
            <a:ext cx="19202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Kettle Sales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434840" y="1827886"/>
            <a:ext cx="19202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5A36B"/>
                </a:solidFill>
              </a:rPr>
              <a:t>#1 Brand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492240" y="1078992"/>
            <a:ext cx="2331720" cy="960120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92240" y="1197864"/>
            <a:ext cx="233172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$37,968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492240" y="1607058"/>
            <a:ext cx="233172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175g Pack Sales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92240" y="1827886"/>
            <a:ext cx="23317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5A36B"/>
                </a:solidFill>
              </a:rPr>
              <a:t>#1 Pack Size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20040" y="217627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36"/>
                </a:solidFill>
              </a:rPr>
              <a:t>Top Brands</a:t>
            </a:r>
            <a:endParaRPr lang="en-US" sz="1200" dirty="0"/>
          </a:p>
        </p:txBody>
      </p:sp>
      <p:graphicFrame>
        <p:nvGraphicFramePr>
          <p:cNvPr id="25" name="Chart 0"/>
          <p:cNvGraphicFramePr/>
          <p:nvPr/>
        </p:nvGraphicFramePr>
        <p:xfrm>
          <a:off x="320040" y="2468880"/>
          <a:ext cx="402336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6" name="Text 23"/>
          <p:cNvSpPr/>
          <p:nvPr/>
        </p:nvSpPr>
        <p:spPr>
          <a:xfrm>
            <a:off x="4754880" y="217627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36"/>
                </a:solidFill>
              </a:rPr>
              <a:t>Top Pack Sizes</a:t>
            </a:r>
            <a:endParaRPr lang="en-US" sz="1200" dirty="0"/>
          </a:p>
        </p:txBody>
      </p:sp>
      <p:graphicFrame>
        <p:nvGraphicFramePr>
          <p:cNvPr id="27" name="Chart 1"/>
          <p:cNvGraphicFramePr/>
          <p:nvPr/>
        </p:nvGraphicFramePr>
        <p:xfrm>
          <a:off x="4754880" y="2468880"/>
          <a:ext cx="402336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E2D5F"/>
          </a:solidFill>
          <a:ln w="12700">
            <a:solidFill>
              <a:srgbClr val="1E2D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TASK 2 — METHODOLOGY  |  RIGOROUS MATCHING ELIMINATES CONFOUNDERS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892040"/>
            <a:ext cx="7315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6B0"/>
                </a:solidFill>
              </a:rPr>
              <a:t>Quantium Retail Analytics  |  Chips Category Review  |  Confidential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03920" y="4892040"/>
            <a:ext cx="457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6B0"/>
                </a:solidFill>
              </a:rPr>
              <a:t>7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Statistically matched control stores give us a reliable counterfactual baseline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20040" y="1188720"/>
            <a:ext cx="27432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188720"/>
            <a:ext cx="2743200" cy="502920"/>
          </a:xfrm>
          <a:prstGeom prst="rect">
            <a:avLst/>
          </a:prstGeom>
          <a:solidFill>
            <a:srgbClr val="1E2D5F"/>
          </a:solidFill>
          <a:ln w="12700">
            <a:solidFill>
              <a:srgbClr val="1E2D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622A"/>
                </a:solidFill>
              </a:rPr>
              <a:t>01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41832" y="1188720"/>
            <a:ext cx="202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Identify Trial Stores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1783080"/>
            <a:ext cx="2468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4966"/>
                </a:solidFill>
              </a:rPr>
              <a:t>Stores 77, 86, and 88 selected for the new chips category layout starting February 2019.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063240" y="260604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8622A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246120" y="1188720"/>
            <a:ext cx="27432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1188720"/>
            <a:ext cx="2743200" cy="502920"/>
          </a:xfrm>
          <a:prstGeom prst="rect">
            <a:avLst/>
          </a:prstGeom>
          <a:solidFill>
            <a:srgbClr val="1E2D5F"/>
          </a:solidFill>
          <a:ln w="12700">
            <a:solidFill>
              <a:srgbClr val="1E2D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622A"/>
                </a:solidFill>
              </a:rPr>
              <a:t>02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867912" y="1188720"/>
            <a:ext cx="202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Match Control Stores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83280" y="1783080"/>
            <a:ext cx="2468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4966"/>
                </a:solidFill>
              </a:rPr>
              <a:t>Pre-trial data (Jul 2018–Jan 2019) used to score all stores on Correlation + Magnitude Distance (50/50) for both Total Sales and Number of Customers.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D4966"/>
                </a:solidFill>
              </a:rPr>
              <a:t>  77 ↔ 233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D4966"/>
                </a:solidFill>
              </a:rPr>
              <a:t>  86 ↔ 155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D4966"/>
                </a:solidFill>
              </a:rPr>
              <a:t>  88 ↔ 237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989320" y="260604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8622A"/>
                </a:solidFill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172200" y="1188720"/>
            <a:ext cx="27432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72200" y="1188720"/>
            <a:ext cx="2743200" cy="502920"/>
          </a:xfrm>
          <a:prstGeom prst="rect">
            <a:avLst/>
          </a:prstGeom>
          <a:solidFill>
            <a:srgbClr val="1E2D5F"/>
          </a:solidFill>
          <a:ln w="12700">
            <a:solidFill>
              <a:srgbClr val="1E2D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6364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622A"/>
                </a:solidFill>
              </a:rPr>
              <a:t>03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793992" y="1188720"/>
            <a:ext cx="202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Measure Impact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09360" y="1783080"/>
            <a:ext cx="2468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4966"/>
                </a:solidFill>
              </a:rPr>
              <a:t>During trial (Feb–Apr 2019), compare trial vs scaled control. Significance declared when t-value exceeds ±2 SD (95% CI) in ≥2 of 3 months.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4572000"/>
            <a:ext cx="320040" cy="164592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4088" y="45445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B8A"/>
                </a:solidFill>
              </a:rPr>
              <a:t>Shaded area = Trial window (Feb–Apr 2019)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532888" y="4572000"/>
            <a:ext cx="320040" cy="164592"/>
          </a:xfrm>
          <a:prstGeom prst="rect">
            <a:avLst/>
          </a:prstGeom>
          <a:solidFill>
            <a:srgbClr val="5B6B8A"/>
          </a:solidFill>
          <a:ln w="12700">
            <a:solidFill>
              <a:srgbClr val="5B6B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16936" y="45445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B8A"/>
                </a:solidFill>
              </a:rPr>
              <a:t>Solid line = Control baseline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745736" y="4572000"/>
            <a:ext cx="320040" cy="164592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9784" y="45445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B8A"/>
                </a:solidFill>
              </a:rPr>
              <a:t>Dashed lines = ±2 SD confidence interval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958584" y="4572000"/>
            <a:ext cx="320040" cy="164592"/>
          </a:xfrm>
          <a:prstGeom prst="rect">
            <a:avLst/>
          </a:prstGeom>
          <a:solidFill>
            <a:srgbClr val="1E2D5F"/>
          </a:solidFill>
          <a:ln w="12700">
            <a:solidFill>
              <a:srgbClr val="1E2D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42632" y="45445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B8A"/>
                </a:solidFill>
              </a:rPr>
              <a:t>Blue line = Trial store performance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E2D5F"/>
          </a:solidFill>
          <a:ln w="12700">
            <a:solidFill>
              <a:srgbClr val="1E2D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TASK 2 — STORE 77 VS CONTROL 233  |  RECOMMENDATION: ROLLOUT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892040"/>
            <a:ext cx="7315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6B0"/>
                </a:solidFill>
              </a:rPr>
              <a:t>Quantium Retail Analytics  |  Chips Category Review  |  Confidential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03920" y="4892040"/>
            <a:ext cx="457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6B0"/>
                </a:solidFill>
              </a:rPr>
              <a:t>8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77 delivered clear, statistically significant uplift in both Sales and Customers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20040" y="107899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36"/>
                </a:solidFill>
              </a:rPr>
              <a:t>Total Sales — t-values vs ±2 SD threshold</a:t>
            </a:r>
            <a:endParaRPr lang="en-US" sz="11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320040" y="1371600"/>
          <a:ext cx="420624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 7"/>
          <p:cNvSpPr/>
          <p:nvPr/>
        </p:nvSpPr>
        <p:spPr>
          <a:xfrm>
            <a:off x="4663440" y="107899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36"/>
                </a:solidFill>
              </a:rPr>
              <a:t>Number of Customers — t-values vs ±2 SD threshold</a:t>
            </a:r>
            <a:endParaRPr lang="en-US" sz="1100" dirty="0"/>
          </a:p>
        </p:txBody>
      </p:sp>
      <p:graphicFrame>
        <p:nvGraphicFramePr>
          <p:cNvPr id="11" name="Chart 1"/>
          <p:cNvGraphicFramePr/>
          <p:nvPr/>
        </p:nvGraphicFramePr>
        <p:xfrm>
          <a:off x="4663440" y="1371600"/>
          <a:ext cx="420624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Shape 8"/>
          <p:cNvSpPr/>
          <p:nvPr/>
        </p:nvSpPr>
        <p:spPr>
          <a:xfrm>
            <a:off x="320040" y="2011680"/>
            <a:ext cx="4206240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dash"/>
          </a:ln>
        </p:spPr>
      </p:sp>
      <p:sp>
        <p:nvSpPr>
          <p:cNvPr id="13" name="Text 9"/>
          <p:cNvSpPr/>
          <p:nvPr/>
        </p:nvSpPr>
        <p:spPr>
          <a:xfrm>
            <a:off x="347472" y="1874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C0392B"/>
                </a:solidFill>
              </a:rPr>
              <a:t>±2 SD threshold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4663440" y="2011680"/>
            <a:ext cx="4206240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dash"/>
          </a:ln>
        </p:spPr>
      </p:sp>
      <p:sp>
        <p:nvSpPr>
          <p:cNvPr id="15" name="Text 11"/>
          <p:cNvSpPr/>
          <p:nvPr/>
        </p:nvSpPr>
        <p:spPr>
          <a:xfrm>
            <a:off x="4681728" y="1874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C0392B"/>
                </a:solidFill>
              </a:rPr>
              <a:t>±2 SD threshold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320040" y="3657600"/>
            <a:ext cx="8503920" cy="274320"/>
          </a:xfrm>
          <a:prstGeom prst="rect">
            <a:avLst/>
          </a:prstGeom>
          <a:solidFill>
            <a:srgbClr val="1E2D5F"/>
          </a:solidFill>
          <a:ln w="12700">
            <a:solidFill>
              <a:srgbClr val="1E2D5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65760" y="3657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Month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2468880" y="3657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Sales Significant?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4572000" y="3657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Customers Significant?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6675120" y="3657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Interpretation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320040" y="3931920"/>
            <a:ext cx="85039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65760" y="3931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F36"/>
                </a:solidFill>
              </a:rPr>
              <a:t>Feb 2019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2468880" y="3931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A"/>
                </a:solidFill>
              </a:rPr>
              <a:t>FALSE  (−0.64)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4572000" y="3931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A"/>
                </a:solidFill>
              </a:rPr>
              <a:t>FALSE  (−1.46)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6675120" y="39319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3D4966"/>
                </a:solidFill>
              </a:rPr>
              <a:t>Lag period — typical for new layouts</a:t>
            </a:r>
            <a:endParaRPr lang="en-US" sz="850" dirty="0"/>
          </a:p>
        </p:txBody>
      </p:sp>
      <p:sp>
        <p:nvSpPr>
          <p:cNvPr id="26" name="Shape 22"/>
          <p:cNvSpPr/>
          <p:nvPr/>
        </p:nvSpPr>
        <p:spPr>
          <a:xfrm>
            <a:off x="320040" y="4206240"/>
            <a:ext cx="8503920" cy="274320"/>
          </a:xfrm>
          <a:prstGeom prst="rect">
            <a:avLst/>
          </a:prstGeom>
          <a:solidFill>
            <a:srgbClr val="EEF1F7"/>
          </a:solidFill>
          <a:ln w="12700">
            <a:solidFill>
              <a:srgbClr val="E0E4E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365760" y="4206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F36"/>
                </a:solidFill>
              </a:rPr>
              <a:t>Mar 2019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2468880" y="4206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8A5F"/>
                </a:solidFill>
              </a:rPr>
              <a:t>TRUE  (2.95)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4572000" y="4206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8A5F"/>
                </a:solidFill>
              </a:rPr>
              <a:t>TRUE  (6.16)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6675120" y="4206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3D4966"/>
                </a:solidFill>
              </a:rPr>
              <a:t>Both metrics breach CI upward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320040" y="4480560"/>
            <a:ext cx="85039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F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365760" y="4480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F36"/>
                </a:solidFill>
              </a:rPr>
              <a:t>Apr 2019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2468880" y="4480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8A5F"/>
                </a:solidFill>
              </a:rPr>
              <a:t>TRUE  (5.93)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4572000" y="4480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8A5F"/>
                </a:solidFill>
              </a:rPr>
              <a:t>TRUE  (15.13)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6675120" y="4480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3D4966"/>
                </a:solidFill>
              </a:rPr>
              <a:t>Strongest month — accelerating gains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E2D5F"/>
          </a:solidFill>
          <a:ln w="12700">
            <a:solidFill>
              <a:srgbClr val="1E2D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TASK 2 — STORE 88 VS CONTROL 237  |  RECOMMENDATION: ROLLOUT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892040"/>
            <a:ext cx="7315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6B0"/>
                </a:solidFill>
              </a:rPr>
              <a:t>Quantium Retail Analytics  |  Chips Category Review  |  Confidential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03920" y="4892040"/>
            <a:ext cx="457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6B0"/>
                </a:solidFill>
              </a:rPr>
              <a:t>9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88 replicates Store 77's success — confirming the layout is scalable and repeatable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20040" y="107899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36"/>
                </a:solidFill>
              </a:rPr>
              <a:t>Total Sales — t-values vs ±2 SD threshold</a:t>
            </a:r>
            <a:endParaRPr lang="en-US" sz="11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320040" y="1371600"/>
          <a:ext cx="420624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 7"/>
          <p:cNvSpPr/>
          <p:nvPr/>
        </p:nvSpPr>
        <p:spPr>
          <a:xfrm>
            <a:off x="4663440" y="107899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36"/>
                </a:solidFill>
              </a:rPr>
              <a:t>Number of Customers — t-values vs ±2 SD threshold</a:t>
            </a:r>
            <a:endParaRPr lang="en-US" sz="1100" dirty="0"/>
          </a:p>
        </p:txBody>
      </p:sp>
      <p:graphicFrame>
        <p:nvGraphicFramePr>
          <p:cNvPr id="11" name="Chart 1"/>
          <p:cNvGraphicFramePr/>
          <p:nvPr/>
        </p:nvGraphicFramePr>
        <p:xfrm>
          <a:off x="4663440" y="1371600"/>
          <a:ext cx="420624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Shape 8"/>
          <p:cNvSpPr/>
          <p:nvPr/>
        </p:nvSpPr>
        <p:spPr>
          <a:xfrm>
            <a:off x="320040" y="2011680"/>
            <a:ext cx="4206240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dash"/>
          </a:ln>
        </p:spPr>
      </p:sp>
      <p:sp>
        <p:nvSpPr>
          <p:cNvPr id="13" name="Text 9"/>
          <p:cNvSpPr/>
          <p:nvPr/>
        </p:nvSpPr>
        <p:spPr>
          <a:xfrm>
            <a:off x="347472" y="1874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C0392B"/>
                </a:solidFill>
              </a:rPr>
              <a:t>±2 SD threshold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4663440" y="2011680"/>
            <a:ext cx="4206240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dash"/>
          </a:ln>
        </p:spPr>
      </p:sp>
      <p:sp>
        <p:nvSpPr>
          <p:cNvPr id="15" name="Text 11"/>
          <p:cNvSpPr/>
          <p:nvPr/>
        </p:nvSpPr>
        <p:spPr>
          <a:xfrm>
            <a:off x="4681728" y="1874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C0392B"/>
                </a:solidFill>
              </a:rPr>
              <a:t>±2 SD threshold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320040" y="3657600"/>
            <a:ext cx="8503920" cy="274320"/>
          </a:xfrm>
          <a:prstGeom prst="rect">
            <a:avLst/>
          </a:prstGeom>
          <a:solidFill>
            <a:srgbClr val="1E2D5F"/>
          </a:solidFill>
          <a:ln w="12700">
            <a:solidFill>
              <a:srgbClr val="1E2D5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65760" y="3657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Month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2468880" y="3657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Sales Significant?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4572000" y="3657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Customers Significant?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6675120" y="3657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Interpretation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320040" y="3931920"/>
            <a:ext cx="85039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65760" y="3931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F36"/>
                </a:solidFill>
              </a:rPr>
              <a:t>Feb 2019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2468880" y="3931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A"/>
                </a:solidFill>
              </a:rPr>
              <a:t>FALSE  (0.39)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4572000" y="3931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A"/>
                </a:solidFill>
              </a:rPr>
              <a:t>FALSE  (1.06)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6675120" y="39319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3D4966"/>
                </a:solidFill>
              </a:rPr>
              <a:t>Both near threshold — ramp-up phase</a:t>
            </a:r>
            <a:endParaRPr lang="en-US" sz="850" dirty="0"/>
          </a:p>
        </p:txBody>
      </p:sp>
      <p:sp>
        <p:nvSpPr>
          <p:cNvPr id="26" name="Shape 22"/>
          <p:cNvSpPr/>
          <p:nvPr/>
        </p:nvSpPr>
        <p:spPr>
          <a:xfrm>
            <a:off x="320040" y="4206240"/>
            <a:ext cx="8503920" cy="274320"/>
          </a:xfrm>
          <a:prstGeom prst="rect">
            <a:avLst/>
          </a:prstGeom>
          <a:solidFill>
            <a:srgbClr val="EEF1F7"/>
          </a:solidFill>
          <a:ln w="12700">
            <a:solidFill>
              <a:srgbClr val="E0E4E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365760" y="4206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F36"/>
                </a:solidFill>
              </a:rPr>
              <a:t>Mar 2019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2468880" y="4206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8A5F"/>
                </a:solidFill>
              </a:rPr>
              <a:t>TRUE  (3.38)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4572000" y="4206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8A5F"/>
                </a:solidFill>
              </a:rPr>
              <a:t>TRUE  (5.36)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6675120" y="4206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3D4966"/>
                </a:solidFill>
              </a:rPr>
              <a:t>Peak: both metrics breach CI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320040" y="4480560"/>
            <a:ext cx="85039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F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365760" y="4480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F36"/>
                </a:solidFill>
              </a:rPr>
              <a:t>Apr 2019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2468880" y="4480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8A5F"/>
                </a:solidFill>
              </a:rPr>
              <a:t>TRUE  (2.00)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4572000" y="4480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A"/>
                </a:solidFill>
              </a:rPr>
              <a:t>FALSE  (1.08)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6675120" y="4480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3D4966"/>
                </a:solidFill>
              </a:rPr>
              <a:t>Sales holds; customers normalise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E2D5F"/>
          </a:solidFill>
          <a:ln w="12700">
            <a:solidFill>
              <a:srgbClr val="1E2D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TASK 2 — STORE 86 VS CONTROL 155  |  RECOMMENDATION: INVESTIGATE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892040"/>
            <a:ext cx="7315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6B0"/>
                </a:solidFill>
              </a:rPr>
              <a:t>Quantium Retail Analytics  |  Chips Category Review  |  Confidential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03920" y="4892040"/>
            <a:ext cx="457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6B0"/>
                </a:solidFill>
              </a:rPr>
              <a:t>10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86: Layout attracted customers — but failed to convert them into incremental revenue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20040" y="107899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</a:rPr>
              <a:t>Total Sales — NOT significant overall</a:t>
            </a:r>
            <a:endParaRPr lang="en-US" sz="11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320040" y="1371600"/>
          <a:ext cx="420624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Shape 7"/>
          <p:cNvSpPr/>
          <p:nvPr/>
        </p:nvSpPr>
        <p:spPr>
          <a:xfrm>
            <a:off x="320040" y="2011680"/>
            <a:ext cx="4206240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dash"/>
          </a:ln>
        </p:spPr>
      </p:sp>
      <p:sp>
        <p:nvSpPr>
          <p:cNvPr id="11" name="Text 8"/>
          <p:cNvSpPr/>
          <p:nvPr/>
        </p:nvSpPr>
        <p:spPr>
          <a:xfrm>
            <a:off x="4663440" y="107899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8A5F"/>
                </a:solidFill>
              </a:rPr>
              <a:t>Customers — Significant but not sustained</a:t>
            </a:r>
            <a:endParaRPr lang="en-US" sz="1100" dirty="0"/>
          </a:p>
        </p:txBody>
      </p:sp>
      <p:graphicFrame>
        <p:nvGraphicFramePr>
          <p:cNvPr id="12" name="Chart 1"/>
          <p:cNvGraphicFramePr/>
          <p:nvPr/>
        </p:nvGraphicFramePr>
        <p:xfrm>
          <a:off x="4663440" y="1371600"/>
          <a:ext cx="420624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Shape 9"/>
          <p:cNvSpPr/>
          <p:nvPr/>
        </p:nvSpPr>
        <p:spPr>
          <a:xfrm>
            <a:off x="4663440" y="2011680"/>
            <a:ext cx="4206240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dash"/>
          </a:ln>
        </p:spPr>
      </p:sp>
      <p:sp>
        <p:nvSpPr>
          <p:cNvPr id="14" name="Shape 10"/>
          <p:cNvSpPr/>
          <p:nvPr/>
        </p:nvSpPr>
        <p:spPr>
          <a:xfrm>
            <a:off x="320040" y="3611880"/>
            <a:ext cx="8503920" cy="1234440"/>
          </a:xfrm>
          <a:prstGeom prst="rect">
            <a:avLst/>
          </a:prstGeom>
          <a:solidFill>
            <a:srgbClr val="1E2D5F"/>
          </a:solidFill>
          <a:ln w="12700">
            <a:solidFill>
              <a:srgbClr val="1E2D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548640" y="36758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622A"/>
                </a:solidFill>
              </a:rPr>
              <a:t>! DIAGNOSTIC CONCLUSION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548640" y="39776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The layout successfully drew customers in — but failed to convert them into higher revenue. This divergence strongly indicates a LOCALISED PRICING or PROMOTIONAL ISSUE at Store 86, not a failure of the layout itself. Hold rollout for stores similar to 86 pending a pricing/promotions audit.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E2D5F"/>
          </a:solidFill>
          <a:ln w="12700">
            <a:solidFill>
              <a:srgbClr val="1E2D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TASK 2 — SUMMARY  |  FINAL RECOMMENDATION MATRIX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892040"/>
            <a:ext cx="7315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6B0"/>
                </a:solidFill>
              </a:rPr>
              <a:t>Quantium Retail Analytics  |  Chips Category Review  |  Confidential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03920" y="4892040"/>
            <a:ext cx="457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6B0"/>
                </a:solidFill>
              </a:rPr>
              <a:t>11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stores, three outcomes — two green lights, one amber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20040" y="1115568"/>
            <a:ext cx="8503920" cy="384048"/>
          </a:xfrm>
          <a:prstGeom prst="rect">
            <a:avLst/>
          </a:prstGeom>
          <a:solidFill>
            <a:srgbClr val="1E2D5F"/>
          </a:solidFill>
          <a:ln w="12700">
            <a:solidFill>
              <a:srgbClr val="1E2D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115568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Trial Store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240280" y="1115568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Control Match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0" y="1115568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Sales Significant?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74920" y="1115568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Customers Significant?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492240" y="111556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Recommendation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1536192"/>
            <a:ext cx="8503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1536192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36"/>
                </a:solidFill>
              </a:rPr>
              <a:t>Store 77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240280" y="1536192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966"/>
                </a:solidFill>
              </a:rPr>
              <a:t>233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0" y="1536192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8A5F"/>
                </a:solidFill>
              </a:rPr>
              <a:t>✓ YES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74920" y="1536192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8A5F"/>
                </a:solidFill>
              </a:rPr>
              <a:t>✓ YES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46520" y="1645920"/>
            <a:ext cx="1691640" cy="347472"/>
          </a:xfrm>
          <a:prstGeom prst="rect">
            <a:avLst/>
          </a:prstGeom>
          <a:solidFill>
            <a:srgbClr val="1E2D5F"/>
          </a:solidFill>
          <a:ln w="12700">
            <a:solidFill>
              <a:srgbClr val="1E2D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164592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ROLLOUT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2130552"/>
            <a:ext cx="8503920" cy="566928"/>
          </a:xfrm>
          <a:prstGeom prst="rect">
            <a:avLst/>
          </a:prstGeom>
          <a:solidFill>
            <a:srgbClr val="EEF1F7"/>
          </a:solidFill>
          <a:ln w="12700">
            <a:solidFill>
              <a:srgbClr val="E0E4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2130552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36"/>
                </a:solidFill>
              </a:rPr>
              <a:t>Store 88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240280" y="2130552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966"/>
                </a:solidFill>
              </a:rPr>
              <a:t>237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0" y="2130552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8A5F"/>
                </a:solidFill>
              </a:rPr>
              <a:t>✓ YES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74920" y="2130552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622A"/>
                </a:solidFill>
              </a:rPr>
              <a:t>Partial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46520" y="2240280"/>
            <a:ext cx="1691640" cy="347472"/>
          </a:xfrm>
          <a:prstGeom prst="rect">
            <a:avLst/>
          </a:prstGeom>
          <a:solidFill>
            <a:srgbClr val="1E2D5F"/>
          </a:solidFill>
          <a:ln w="12700">
            <a:solidFill>
              <a:srgbClr val="1E2D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6520" y="224028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ROLLOUT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0040" y="2724912"/>
            <a:ext cx="8503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2724912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36"/>
                </a:solidFill>
              </a:rPr>
              <a:t>Store 86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240280" y="2724912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966"/>
                </a:solidFill>
              </a:rPr>
              <a:t>155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657600" y="2724912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</a:rPr>
              <a:t>✗ NO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074920" y="2724912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8A5F"/>
                </a:solidFill>
              </a:rPr>
              <a:t>✓ YES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446520" y="2834640"/>
            <a:ext cx="1691640" cy="347472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46520" y="283464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INVESTIGATE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0040" y="4069080"/>
            <a:ext cx="8503920" cy="749808"/>
          </a:xfrm>
          <a:prstGeom prst="rect">
            <a:avLst/>
          </a:prstGeom>
          <a:solidFill>
            <a:srgbClr val="EEF1F7"/>
          </a:solidFill>
          <a:ln w="12700">
            <a:solidFill>
              <a:srgbClr val="C5CC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0040" y="4069080"/>
            <a:ext cx="73152" cy="749808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4133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622A"/>
                </a:solidFill>
              </a:rPr>
              <a:t>IMMEDIATE ACTION: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02920" y="44074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4966"/>
                </a:solidFill>
              </a:rPr>
              <a:t>Initiate layout rollout protocols for all locations matching the Store 77 and 88 profiles, while merchandising teams conduct a pricing/promotions audit for stores matching the Store 86 demographic.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C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6576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932688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5A36B"/>
                </a:solidFill>
              </a:rPr>
              <a:t>Backed by statistical evidence — three actions, clear priorities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389888"/>
            <a:ext cx="8321040" cy="987552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89888"/>
            <a:ext cx="502920" cy="987552"/>
          </a:xfrm>
          <a:prstGeom prst="rect">
            <a:avLst/>
          </a:prstGeom>
          <a:solidFill>
            <a:srgbClr val="2D8A5F"/>
          </a:solidFill>
          <a:ln w="12700">
            <a:solidFill>
              <a:srgbClr val="2D8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89888"/>
            <a:ext cx="5029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144475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8A5F"/>
                </a:solidFill>
              </a:rPr>
              <a:t>ROLLOUT — Stores similar to 77 &amp; 88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1773936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Both stores showed statistically significant uplift in total sales (t=2.95–5.93) and customer acquisition (t=5.36–15.13). Implement the new layout across all structurally similar stores immediately.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1480" y="2468880"/>
            <a:ext cx="8321040" cy="987552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2468880"/>
            <a:ext cx="502920" cy="987552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468880"/>
            <a:ext cx="5029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05840" y="2523744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622A"/>
                </a:solidFill>
              </a:rPr>
              <a:t>INVESTIGATE — Store 86 before wider deployment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2852928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Customer traffic surged (t=4.04–5.37) but sales uplift was not sustained. Conduct a pricing and promotions audit before rolling out to stores with a similar demographic profile.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1480" y="3547872"/>
            <a:ext cx="8321040" cy="987552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547872"/>
            <a:ext cx="502920" cy="987552"/>
          </a:xfrm>
          <a:prstGeom prst="rect">
            <a:avLst/>
          </a:prstGeom>
          <a:solidFill>
            <a:srgbClr val="F5A36B"/>
          </a:solidFill>
          <a:ln w="12700">
            <a:solidFill>
              <a:srgbClr val="F5A3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547872"/>
            <a:ext cx="5029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05840" y="3602736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36B"/>
                </a:solidFill>
              </a:rPr>
              <a:t>TARGET — Mainstream Young Singles/Couples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39319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Highest avg unit price ($4.07, t=37.6 vs non-mainstream). Prioritise Kettle brand (175g pack) at eye level in the new layout to maximise returns from this high-value, high-volume segment.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96B0"/>
                </a:solidFill>
              </a:rPr>
              <a:t>Quantium Retail Analytics  |  Chips Category  |  Prepared by Sushant Kumar Yadav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1442</Words>
  <Application>Microsoft Office PowerPoint</Application>
  <PresentationFormat>On-screen Show (16:9)</PresentationFormat>
  <Paragraphs>221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Quantium Retail Analytics – Chips Category Review</dc:title>
  <dc:subject>PptxGenJS Presentation</dc:subject>
  <dc:creator>PptxGenJS</dc:creator>
  <cp:lastModifiedBy>SUSHANT YADAV</cp:lastModifiedBy>
  <cp:revision>1</cp:revision>
  <dcterms:created xsi:type="dcterms:W3CDTF">2026-04-12T04:28:47Z</dcterms:created>
  <dcterms:modified xsi:type="dcterms:W3CDTF">2026-04-12T04:55:47Z</dcterms:modified>
</cp:coreProperties>
</file>